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act-senior-prototype.lovable.app/" TargetMode="External"/><Relationship Id="rId1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act-senior-prototype.lovable.app/" TargetMode="External"/><Relationship Id="rId2" Type="http://schemas.openxmlformats.org/officeDocument/2006/relationships/image" Target="../media/image-2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eutkabilo/Act Security/deliverables/build/ac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868680"/>
            <a:ext cx="1822704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33172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SENIOR PRODUCT DESIGNER  ·  HOME ASSIGNMENT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66928" y="2724912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Designing the Integrations page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566928" y="349300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Act Security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66928" y="4498848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page where a security engineer connects their tools - and sees exactly what access they grant before anything happens.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66928" y="5532120"/>
            <a:ext cx="2139696" cy="274320"/>
          </a:xfrm>
          <a:prstGeom prst="roundRect">
            <a:avLst>
              <a:gd name="adj" fmla="val 50000"/>
            </a:avLst>
          </a:prstGeom>
          <a:solidFill>
            <a:srgbClr val="2F3447"/>
          </a:solidFill>
          <a:ln w="9525">
            <a:solidFill>
              <a:srgbClr val="E7FF8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553212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React prototype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889504" y="5532120"/>
            <a:ext cx="1773936" cy="274320"/>
          </a:xfrm>
          <a:prstGeom prst="roundRect">
            <a:avLst>
              <a:gd name="adj" fmla="val 50000"/>
            </a:avLst>
          </a:prstGeom>
          <a:solidFill>
            <a:srgbClr val="2F3447"/>
          </a:solidFill>
          <a:ln w="9525">
            <a:solidFill>
              <a:srgbClr val="E7FF8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9504" y="553212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Trust-first flow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846320" y="5532120"/>
            <a:ext cx="1499616" cy="274320"/>
          </a:xfrm>
          <a:prstGeom prst="roundRect">
            <a:avLst>
              <a:gd name="adj" fmla="val 50000"/>
            </a:avLst>
          </a:prstGeom>
          <a:solidFill>
            <a:srgbClr val="2F3447"/>
          </a:solidFill>
          <a:ln w="9525">
            <a:solidFill>
              <a:srgbClr val="E7FF8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553212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Setup Copilot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66928" y="603504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prototype   </a:t>
            </a:r>
            <a:pPr algn="l" indent="0" marL="0">
              <a:buNone/>
            </a:pPr>
            <a:r>
              <a:rPr lang="en-US" sz="1200" u="sng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act-senior-prototype.lovable.app</a:t>
            </a:r>
            <a:endParaRPr lang="en-US" sz="1200" dirty="0"/>
          </a:p>
        </p:txBody>
      </p:sp>
      <p:pic>
        <p:nvPicPr>
          <p:cNvPr id="14" name="Image 1" descr="/Users/reutkabilo/Act Security/deliverables/build/act-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64808"/>
            <a:ext cx="39624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27760" y="643737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9793224" y="64373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 / 24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REFRAME THAT DRIVES THE PAGE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 aren’t just a marketplace. They’re Act’s activation surface.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Legacy tools treat integrations as data sources feeding a dashboard. Act’s preemptive bet reframes the page as an active setup surface - not a wall of logos.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542032"/>
            <a:ext cx="5298948" cy="2880360"/>
          </a:xfrm>
          <a:prstGeom prst="roundRect">
            <a:avLst>
              <a:gd name="adj" fmla="val 3810"/>
            </a:avLst>
          </a:prstGeom>
          <a:solidFill>
            <a:srgbClr val="1F2230"/>
          </a:solidFill>
          <a:ln w="12700">
            <a:solidFill>
              <a:srgbClr val="2B31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798064"/>
            <a:ext cx="46588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YESTERDAY  ·  REACT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6968" y="3273552"/>
            <a:ext cx="46588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Detect → triage → respond, after exposure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 = sources feeding a dashboard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Success = more findings, more visibility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passive logo marketplace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23076" y="2542032"/>
            <a:ext cx="5298948" cy="2880360"/>
          </a:xfrm>
          <a:prstGeom prst="roundRect">
            <a:avLst>
              <a:gd name="adj" fmla="val 3810"/>
            </a:avLst>
          </a:prstGeom>
          <a:solidFill>
            <a:srgbClr val="212B22"/>
          </a:solidFill>
          <a:ln w="15875">
            <a:solidFill>
              <a:srgbClr val="E7FF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43116" y="2798064"/>
            <a:ext cx="46588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  ·  PREEMPT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43116" y="3273552"/>
            <a:ext cx="46588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Map access → harden → close risky paths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 = how Act receives context and enables action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Success = least privilege by default, paths closed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 active activation surface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66928" y="562356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Based on Act’s public positioning - treated as my product hypothesis, not inside knowledge.</a:t>
            </a:r>
            <a:endParaRPr lang="en-US" sz="1150" dirty="0"/>
          </a:p>
        </p:txBody>
      </p:sp>
      <p:pic>
        <p:nvPicPr>
          <p:cNvPr id="12" name="Image 0" descr="/Users/reutkabilo/Act Security/deliverables/build/ac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464808"/>
            <a:ext cx="396240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27760" y="643737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793224" y="64373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I DESIGNED FOR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operator who activates value - not a casual browser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page is for the person building the setup and putting their name on it - technical, precise, trustworthy, never dumbed down.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697480"/>
            <a:ext cx="2571750" cy="2788920"/>
          </a:xfrm>
          <a:prstGeom prst="roundRect">
            <a:avLst>
              <a:gd name="adj" fmla="val 4267"/>
            </a:avLst>
          </a:prstGeom>
          <a:solidFill>
            <a:srgbClr val="212B22"/>
          </a:solidFill>
          <a:ln w="15875">
            <a:solidFill>
              <a:srgbClr val="E7FF8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71800"/>
            <a:ext cx="1291590" cy="274320"/>
          </a:xfrm>
          <a:prstGeom prst="roundRect">
            <a:avLst>
              <a:gd name="adj" fmla="val 50000"/>
            </a:avLst>
          </a:prstGeom>
          <a:solidFill>
            <a:srgbClr val="2B3318"/>
          </a:solidFill>
          <a:ln w="9525">
            <a:solidFill>
              <a:srgbClr val="E7FF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971800"/>
            <a:ext cx="1291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3447288"/>
            <a:ext cx="20596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 Security Engineer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205968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Technical operator. Owns credentials, scopes, connection health. Designs the setup.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94710" y="2697480"/>
            <a:ext cx="2571750" cy="2788920"/>
          </a:xfrm>
          <a:prstGeom prst="roundRect">
            <a:avLst>
              <a:gd name="adj" fmla="val 4267"/>
            </a:avLst>
          </a:prstGeom>
          <a:solidFill>
            <a:srgbClr val="1F2230"/>
          </a:solidFill>
          <a:ln w="12700">
            <a:solidFill>
              <a:srgbClr val="2B31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0742" y="2971800"/>
            <a:ext cx="1291590" cy="274320"/>
          </a:xfrm>
          <a:prstGeom prst="roundRect">
            <a:avLst>
              <a:gd name="adj" fmla="val 50000"/>
            </a:avLst>
          </a:prstGeom>
          <a:solidFill>
            <a:srgbClr val="2F3447"/>
          </a:solidFill>
          <a:ln w="9525">
            <a:solidFill>
              <a:srgbClr val="6D75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0742" y="2971800"/>
            <a:ext cx="1291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SECONDARY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0742" y="3447288"/>
            <a:ext cx="20596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CISO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50742" y="4069080"/>
            <a:ext cx="205968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Coverage, confidence, risk reduction. Reads status, not config.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22492" y="2697480"/>
            <a:ext cx="2571750" cy="2788920"/>
          </a:xfrm>
          <a:prstGeom prst="roundRect">
            <a:avLst>
              <a:gd name="adj" fmla="val 4267"/>
            </a:avLst>
          </a:prstGeom>
          <a:solidFill>
            <a:srgbClr val="1F2230"/>
          </a:solidFill>
          <a:ln w="12700">
            <a:solidFill>
              <a:srgbClr val="2B31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8524" y="2971800"/>
            <a:ext cx="1291590" cy="274320"/>
          </a:xfrm>
          <a:prstGeom prst="roundRect">
            <a:avLst>
              <a:gd name="adj" fmla="val 50000"/>
            </a:avLst>
          </a:prstGeom>
          <a:solidFill>
            <a:srgbClr val="2F3447"/>
          </a:solidFill>
          <a:ln w="9525">
            <a:solidFill>
              <a:srgbClr val="6D75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8524" y="2971800"/>
            <a:ext cx="1291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SECONDARY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78524" y="3447288"/>
            <a:ext cx="20596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DevOps / Platform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78524" y="4069080"/>
            <a:ext cx="205968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 creds, IaC pipelines, environment scoping.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50274" y="2697480"/>
            <a:ext cx="2571750" cy="2788920"/>
          </a:xfrm>
          <a:prstGeom prst="roundRect">
            <a:avLst>
              <a:gd name="adj" fmla="val 4267"/>
            </a:avLst>
          </a:prstGeom>
          <a:solidFill>
            <a:srgbClr val="1F2230"/>
          </a:solidFill>
          <a:ln w="12700">
            <a:solidFill>
              <a:srgbClr val="2B31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06306" y="2971800"/>
            <a:ext cx="1291590" cy="274320"/>
          </a:xfrm>
          <a:prstGeom prst="roundRect">
            <a:avLst>
              <a:gd name="adj" fmla="val 50000"/>
            </a:avLst>
          </a:prstGeom>
          <a:solidFill>
            <a:srgbClr val="2F3447"/>
          </a:solidFill>
          <a:ln w="9525">
            <a:solidFill>
              <a:srgbClr val="6D75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06306" y="2971800"/>
            <a:ext cx="1291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CONSUMER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306306" y="3447288"/>
            <a:ext cx="20596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SOC analyst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306306" y="4069080"/>
            <a:ext cx="205968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Consumes signal downstream - does not configure integrations.</a:t>
            </a:r>
            <a:endParaRPr lang="en-US" sz="1150" dirty="0"/>
          </a:p>
        </p:txBody>
      </p:sp>
      <p:pic>
        <p:nvPicPr>
          <p:cNvPr id="25" name="Image 0" descr="/Users/reutkabilo/Act Security/deliverables/build/ac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464808"/>
            <a:ext cx="396240" cy="1828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127760" y="643737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793224" y="64373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I DESIGNED FOR - AND WHAT THEY ACTUALLY FEEL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Setup is a high-trust, high-risk moment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operator is a Cloud Security Engineer - technical, precise, accountable - granting a security platform access to highly sensitive cloud and identity systems. The dominant emotion isn’t curiosity; it’s permission anxiety.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788920"/>
            <a:ext cx="3441192" cy="2286000"/>
          </a:xfrm>
          <a:prstGeom prst="roundRect">
            <a:avLst>
              <a:gd name="adj" fmla="val 4800"/>
            </a:avLst>
          </a:prstGeom>
          <a:solidFill>
            <a:srgbClr val="1F2230"/>
          </a:solidFill>
          <a:ln w="12700">
            <a:solidFill>
              <a:srgbClr val="2B31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788920"/>
            <a:ext cx="3441192" cy="64008"/>
          </a:xfrm>
          <a:prstGeom prst="rect">
            <a:avLst/>
          </a:prstGeom>
          <a:solidFill>
            <a:srgbClr val="F94351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3081528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Permission anxiety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3630168"/>
            <a:ext cx="28925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i="1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“What exactly can it touch? Can it change things? Am I widening my attack surface by connecting a security tool?”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73880" y="2788920"/>
            <a:ext cx="3441192" cy="2286000"/>
          </a:xfrm>
          <a:prstGeom prst="roundRect">
            <a:avLst>
              <a:gd name="adj" fmla="val 4800"/>
            </a:avLst>
          </a:prstGeom>
          <a:solidFill>
            <a:srgbClr val="1F2230"/>
          </a:solidFill>
          <a:ln w="12700">
            <a:solidFill>
              <a:srgbClr val="2B31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3880" y="2788920"/>
            <a:ext cx="3441192" cy="64008"/>
          </a:xfrm>
          <a:prstGeom prst="rect">
            <a:avLst/>
          </a:prstGeom>
          <a:solidFill>
            <a:srgbClr val="F94351"/>
          </a:solidFill>
          <a:ln/>
        </p:spPr>
      </p:sp>
      <p:sp>
        <p:nvSpPr>
          <p:cNvPr id="11" name="Text 9"/>
          <p:cNvSpPr/>
          <p:nvPr/>
        </p:nvSpPr>
        <p:spPr>
          <a:xfrm>
            <a:off x="4648200" y="3081528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Setup anxiety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48200" y="3630168"/>
            <a:ext cx="28925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i="1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“Did I scope this correctly? What breaks if I get a credential or a write scope wrong?”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80832" y="2788920"/>
            <a:ext cx="3441192" cy="2286000"/>
          </a:xfrm>
          <a:prstGeom prst="roundRect">
            <a:avLst>
              <a:gd name="adj" fmla="val 4800"/>
            </a:avLst>
          </a:prstGeom>
          <a:solidFill>
            <a:srgbClr val="1F2230"/>
          </a:solidFill>
          <a:ln w="12700">
            <a:solidFill>
              <a:srgbClr val="2B31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0832" y="2788920"/>
            <a:ext cx="3441192" cy="64008"/>
          </a:xfrm>
          <a:prstGeom prst="rect">
            <a:avLst/>
          </a:prstGeom>
          <a:solidFill>
            <a:srgbClr val="F94351"/>
          </a:solidFill>
          <a:ln/>
        </p:spPr>
      </p:sp>
      <p:sp>
        <p:nvSpPr>
          <p:cNvPr id="15" name="Text 13"/>
          <p:cNvSpPr/>
          <p:nvPr/>
        </p:nvSpPr>
        <p:spPr>
          <a:xfrm>
            <a:off x="8455152" y="3081528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Recovery anxiety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55152" y="3630168"/>
            <a:ext cx="28925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i="1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“If this fails, or I revoke it later, what stops working - and will I know in time?”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5349240"/>
            <a:ext cx="11055096" cy="640080"/>
          </a:xfrm>
          <a:prstGeom prst="roundRect">
            <a:avLst>
              <a:gd name="adj" fmla="val 14286"/>
            </a:avLst>
          </a:prstGeom>
          <a:solidFill>
            <a:srgbClr val="212B22"/>
          </a:solidFill>
          <a:ln w="12700">
            <a:solidFill>
              <a:srgbClr val="E7FF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5349240"/>
            <a:ext cx="10415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Design principle   </a:t>
            </a:r>
            <a:pPr algn="l" indent="0" marL="0">
              <a:buNone/>
            </a:pPr>
            <a:r>
              <a:rPr lang="en-US" sz="140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Answer the trust questions before asking for a single credential.</a:t>
            </a:r>
            <a:endParaRPr lang="en-US" sz="1400" dirty="0"/>
          </a:p>
        </p:txBody>
      </p:sp>
      <p:pic>
        <p:nvPicPr>
          <p:cNvPr id="19" name="Image 0" descr="/Users/reutkabilo/Act Security/deliverables/build/ac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464808"/>
            <a:ext cx="396240" cy="1828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27760" y="643737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793224" y="64373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 LEARNED FROM BENCHMARKS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Patterns I borrowed - and where they show up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studied how mature platforms handle integrations, then translated the recurring patterns into Act-specific decisions.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9808" y="25420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PATTERN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767328" y="2542032"/>
            <a:ext cx="7671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 BORROWED FOR ACT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2962656"/>
            <a:ext cx="11055096" cy="603504"/>
          </a:xfrm>
          <a:prstGeom prst="roundRect">
            <a:avLst>
              <a:gd name="adj" fmla="val 9091"/>
            </a:avLst>
          </a:prstGeom>
          <a:solidFill>
            <a:srgbClr val="1F223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296265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Wiz · Orca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67328" y="2962656"/>
            <a:ext cx="7626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Frame integrations by security value - not a wall of vendor logos.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356616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Microsoft Sentinel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67328" y="3566160"/>
            <a:ext cx="7626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Connector health matters after setup, not only during 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169664"/>
            <a:ext cx="11055096" cy="603504"/>
          </a:xfrm>
          <a:prstGeom prst="roundRect">
            <a:avLst>
              <a:gd name="adj" fmla="val 9091"/>
            </a:avLst>
          </a:prstGeom>
          <a:solidFill>
            <a:srgbClr val="1F2230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416966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Datadog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67328" y="4169664"/>
            <a:ext cx="7626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Technical setup needs strong guidance, credential clarity and recovery.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95528" y="477316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Okta · Slack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67328" y="4773168"/>
            <a:ext cx="7626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Consent should be simple, explicit and reversible.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5376672"/>
            <a:ext cx="11055096" cy="603504"/>
          </a:xfrm>
          <a:prstGeom prst="roundRect">
            <a:avLst>
              <a:gd name="adj" fmla="val 9091"/>
            </a:avLst>
          </a:prstGeom>
          <a:solidFill>
            <a:srgbClr val="1F223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537667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ServiceNow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67328" y="5376672"/>
            <a:ext cx="7626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Ownership, audit trail and admin visibility build trust.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608990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Patterns observed from public product behaviour and docs - adapted, not copied.</a:t>
            </a:r>
            <a:endParaRPr lang="en-US" sz="1100" dirty="0"/>
          </a:p>
        </p:txBody>
      </p:sp>
      <p:pic>
        <p:nvPicPr>
          <p:cNvPr id="21" name="Image 0" descr="/Users/reutkabilo/Act Security/deliverables/build/ac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464808"/>
            <a:ext cx="396240" cy="1828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27760" y="643737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793224" y="64373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VISUAL RESEARCH · THE SCREENS I STUDIED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pulled the real screens apart before drawing mine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gave one concrete pattern - and together they shaped one decision: make setup guided, reversible, and status-driven.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1F2230"/>
          </a:solidFill>
          <a:ln w="12700">
            <a:solidFill>
              <a:srgbClr val="3A425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4000"/>
              </a:srgbClr>
            </a:outerShdw>
          </a:effectLst>
        </p:spPr>
      </p:sp>
      <p:pic>
        <p:nvPicPr>
          <p:cNvPr id="6" name="Image 0" descr="/Users/reutkabilo/Act Security/prototype/public/benchmark/wiz-integr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359152"/>
            <a:ext cx="3355848" cy="12435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3657600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Wiz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68096" y="3895344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Catalog as ecosystem coverage - not a logo wall.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43400" y="228600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1F2230"/>
          </a:solidFill>
          <a:ln w="12700">
            <a:solidFill>
              <a:srgbClr val="3A425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4000"/>
              </a:srgbClr>
            </a:outerShdw>
          </a:effectLst>
        </p:spPr>
      </p:sp>
      <p:pic>
        <p:nvPicPr>
          <p:cNvPr id="10" name="Image 1" descr="/Users/reutkabilo/Act Security/prototype/public/benchmark/snowflake-catalo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16552" y="2359152"/>
            <a:ext cx="3355848" cy="12435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4568" y="3657600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Snowflake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44568" y="3895344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Faceted marketplace: search + categories at scale.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119872" y="228600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1F2230"/>
          </a:solidFill>
          <a:ln w="12700">
            <a:solidFill>
              <a:srgbClr val="3A425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4000"/>
              </a:srgbClr>
            </a:outerShdw>
          </a:effectLst>
        </p:spPr>
      </p:sp>
      <p:pic>
        <p:nvPicPr>
          <p:cNvPr id="14" name="Image 2" descr="/Users/reutkabilo/Act Security/prototype/public/benchmark/okta-connecto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93024" y="2359152"/>
            <a:ext cx="3355848" cy="12435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21040" y="3657600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Okta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8321040" y="3895344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Lifecycle tabs: Overview · Flows · Test · Deploy.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66928" y="4334256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1F2230"/>
          </a:solidFill>
          <a:ln w="12700">
            <a:solidFill>
              <a:srgbClr val="3A425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4000"/>
              </a:srgbClr>
            </a:outerShdw>
          </a:effectLst>
        </p:spPr>
      </p:sp>
      <p:pic>
        <p:nvPicPr>
          <p:cNvPr id="18" name="Image 3" descr="/Users/reutkabilo/Act Security/prototype/public/benchmark/cloudflare-wizar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0080" y="4407408"/>
            <a:ext cx="3355848" cy="12435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68096" y="570585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Cloudflare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768096" y="5943600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Vertical stepper: Name → Authorize → Confirm.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343400" y="4334256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1F2230"/>
          </a:solidFill>
          <a:ln w="12700">
            <a:solidFill>
              <a:srgbClr val="3A425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4000"/>
              </a:srgbClr>
            </a:outerShdw>
          </a:effectLst>
        </p:spPr>
      </p:sp>
      <p:pic>
        <p:nvPicPr>
          <p:cNvPr id="22" name="Image 4" descr="/Users/reutkabilo/Act Security/prototype/public/benchmark/base44-scopes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416552" y="4407408"/>
            <a:ext cx="3355848" cy="12435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44568" y="570585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Connector OAuth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4544568" y="5943600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Scopes shown in the consent modal before granting.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8119872" y="4334256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1F2230"/>
          </a:solidFill>
          <a:ln w="12700">
            <a:solidFill>
              <a:srgbClr val="3A425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4000"/>
              </a:srgbClr>
            </a:outerShdw>
          </a:effectLst>
        </p:spPr>
      </p:sp>
      <p:pic>
        <p:nvPicPr>
          <p:cNvPr id="26" name="Image 5" descr="/Users/reutkabilo/Act Security/prototype/public/benchmark/github-confirm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93024" y="4407408"/>
            <a:ext cx="3355848" cy="124358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321040" y="570585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8321040" y="5943600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Sudo-mode re-confirm before a sensitive action.</a:t>
            </a:r>
            <a:endParaRPr lang="en-US" sz="1000" dirty="0"/>
          </a:p>
        </p:txBody>
      </p:sp>
      <p:pic>
        <p:nvPicPr>
          <p:cNvPr id="29" name="Image 6" descr="/Users/reutkabilo/Act Security/deliverables/build/act-lo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6464808"/>
            <a:ext cx="396240" cy="1828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127760" y="643737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9793224" y="64373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USER-RESEARCH SYNTHESIS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trust needs to concrete design responses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need maps to a specific affordance you can see in the live prototype.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11055096" cy="384048"/>
          </a:xfrm>
          <a:prstGeom prst="rect">
            <a:avLst/>
          </a:prstGeom>
          <a:solidFill>
            <a:srgbClr val="2F3447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24688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NEED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968496" y="2468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48856" y="2468880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 DESIGN RESPONSE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1055096" cy="676656"/>
          </a:xfrm>
          <a:prstGeom prst="rect">
            <a:avLst/>
          </a:prstGeom>
          <a:solidFill>
            <a:srgbClr val="262A3A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852928"/>
            <a:ext cx="28895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Know what is accessed before consenting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68496" y="2852928"/>
            <a:ext cx="2569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Granting cloud access can feel risky and hard to reverse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48856" y="2852928"/>
            <a:ext cx="4608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“Data Act will access” + “Act will never…” shown pre-credentials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529584"/>
            <a:ext cx="11055096" cy="676656"/>
          </a:xfrm>
          <a:prstGeom prst="rect">
            <a:avLst/>
          </a:prstGeom>
          <a:solidFill>
            <a:srgbClr val="1F2230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529584"/>
            <a:ext cx="28895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Least privilege by default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68496" y="3529584"/>
            <a:ext cx="2569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Write access widens blast radius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48856" y="3529584"/>
            <a:ext cx="4608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Read-only recommended; write scopes optional, off by default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206240"/>
            <a:ext cx="11055096" cy="676656"/>
          </a:xfrm>
          <a:prstGeom prst="rect">
            <a:avLst/>
          </a:prstGeom>
          <a:solidFill>
            <a:srgbClr val="262A3A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4206240"/>
            <a:ext cx="28895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Confidence it is wired correctly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68496" y="4206240"/>
            <a:ext cx="2569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Silent misconfig = security blind spot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48856" y="4206240"/>
            <a:ext cx="4608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connection before enabling; “Connected” = data flowing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882896"/>
            <a:ext cx="11055096" cy="676656"/>
          </a:xfrm>
          <a:prstGeom prst="rect">
            <a:avLst/>
          </a:prstGeom>
          <a:solidFill>
            <a:srgbClr val="1F2230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4882896"/>
            <a:ext cx="28895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Safe recovery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68496" y="4882896"/>
            <a:ext cx="2569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Fear of breaking production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48856" y="4882896"/>
            <a:ext cx="4608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Disconnect names what stops; revoke anytime; reconnect keeps config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5559552"/>
            <a:ext cx="11055096" cy="676656"/>
          </a:xfrm>
          <a:prstGeom prst="rect">
            <a:avLst/>
          </a:prstGeom>
          <a:solidFill>
            <a:srgbClr val="262A3A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5559552"/>
            <a:ext cx="28895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Accountability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68496" y="5559552"/>
            <a:ext cx="2569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Enterprise &amp; audit requirements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48856" y="5559552"/>
            <a:ext cx="4608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Owner, required role, last change, audit log per integration</a:t>
            </a:r>
            <a:endParaRPr lang="en-US" sz="1150" dirty="0"/>
          </a:p>
        </p:txBody>
      </p:sp>
      <p:pic>
        <p:nvPicPr>
          <p:cNvPr id="29" name="Image 0" descr="/Users/reutkabilo/Act Security/deliverables/build/ac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464808"/>
            <a:ext cx="396240" cy="18288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127760" y="643737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9793224" y="64373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DESIGN SYSTEM OF DECISIONS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Five principles I designed every screen against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principle answers an operator anxiety - and shows up, made concrete, in the prototype.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502152" cy="1572768"/>
          </a:xfrm>
          <a:prstGeom prst="roundRect">
            <a:avLst>
              <a:gd name="adj" fmla="val 6977"/>
            </a:avLst>
          </a:prstGeom>
          <a:solidFill>
            <a:srgbClr val="1F2230"/>
          </a:solidFill>
          <a:ln w="12700">
            <a:solidFill>
              <a:srgbClr val="2B31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68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889504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Progressive disclosure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36976"/>
            <a:ext cx="2990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decision at a time. Day-0 shows a single next step; depth unfolds only when asked.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2286000"/>
            <a:ext cx="3502152" cy="1572768"/>
          </a:xfrm>
          <a:prstGeom prst="roundRect">
            <a:avLst>
              <a:gd name="adj" fmla="val 6977"/>
            </a:avLst>
          </a:prstGeom>
          <a:solidFill>
            <a:srgbClr val="1F2230"/>
          </a:solidFill>
          <a:ln w="12700">
            <a:solidFill>
              <a:srgbClr val="2B31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2468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99432" y="2889504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Trust before credentials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9432" y="3236976"/>
            <a:ext cx="2990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Act reads, what it never does, and least-privilege defaults - shown before any secret.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19872" y="2286000"/>
            <a:ext cx="3502152" cy="1572768"/>
          </a:xfrm>
          <a:prstGeom prst="roundRect">
            <a:avLst>
              <a:gd name="adj" fmla="val 6977"/>
            </a:avLst>
          </a:prstGeom>
          <a:solidFill>
            <a:srgbClr val="1F2230"/>
          </a:solidFill>
          <a:ln w="12700">
            <a:solidFill>
              <a:srgbClr val="2B31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2468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75904" y="2889504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Honest status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75904" y="3236976"/>
            <a:ext cx="2990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“Connected” means data is flowing - not “saved.” Every failure names its cause and fix.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1248" y="4114800"/>
            <a:ext cx="5116068" cy="1572768"/>
          </a:xfrm>
          <a:prstGeom prst="roundRect">
            <a:avLst>
              <a:gd name="adj" fmla="val 6977"/>
            </a:avLst>
          </a:prstGeom>
          <a:solidFill>
            <a:srgbClr val="1F2230"/>
          </a:solidFill>
          <a:ln w="12700">
            <a:solidFill>
              <a:srgbClr val="2B31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4718304"/>
            <a:ext cx="4604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Recoverable by design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065776"/>
            <a:ext cx="46040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Reconnect keeps config; disconnect names what stops; revoke anytime. No dead ends.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31636" y="4114800"/>
            <a:ext cx="5116068" cy="1572768"/>
          </a:xfrm>
          <a:prstGeom prst="roundRect">
            <a:avLst>
              <a:gd name="adj" fmla="val 6977"/>
            </a:avLst>
          </a:prstGeom>
          <a:solidFill>
            <a:srgbClr val="1F2230"/>
          </a:solidFill>
          <a:ln w="12700">
            <a:solidFill>
              <a:srgbClr val="2B31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87668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87668" y="4718304"/>
            <a:ext cx="4604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guides, never autopilots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87668" y="5065776"/>
            <a:ext cx="46040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Setup Copilot recommends, explains and unblocks. The operator approves every access decision.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5833872"/>
            <a:ext cx="11055096" cy="457200"/>
          </a:xfrm>
          <a:prstGeom prst="roundRect">
            <a:avLst>
              <a:gd name="adj" fmla="val 20000"/>
            </a:avLst>
          </a:prstGeom>
          <a:solidFill>
            <a:srgbClr val="212B22"/>
          </a:solidFill>
          <a:ln w="12700">
            <a:solidFill>
              <a:srgbClr val="E7FF8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5833872"/>
            <a:ext cx="10415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Designed for   </a:t>
            </a:r>
            <a:pPr indent="0" marL="0">
              <a:buNone/>
            </a:pPr>
            <a:r>
              <a:rPr lang="en-US" sz="120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faster time-to-first-value  ·  fewer failed setups  ·  connector health stays visible  ·  less support load</a:t>
            </a:r>
            <a:endParaRPr lang="en-US" sz="1200" dirty="0"/>
          </a:p>
        </p:txBody>
      </p:sp>
      <p:pic>
        <p:nvPicPr>
          <p:cNvPr id="27" name="Image 0" descr="/Users/reutkabilo/Act Security/deliverables/build/ac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464808"/>
            <a:ext cx="396240" cy="1828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27760" y="643737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793224" y="64373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INFORMATION 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Grouped by what Act does - not A to Z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catalog is organized into three dependency tiers, built bottom-up. Foundation is the only mandatory tier - connect it and Act is set up. Context and Action enrich from there, so progress never demands all 17 connectors.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487168"/>
            <a:ext cx="11055096" cy="1024128"/>
          </a:xfrm>
          <a:prstGeom prst="roundRect">
            <a:avLst>
              <a:gd name="adj" fmla="val 8929"/>
            </a:avLst>
          </a:prstGeom>
          <a:solidFill>
            <a:srgbClr val="1F2230"/>
          </a:solidFill>
          <a:ln w="15875">
            <a:solidFill>
              <a:srgbClr val="E7FF8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615184"/>
            <a:ext cx="82296" cy="768096"/>
          </a:xfrm>
          <a:prstGeom prst="rect">
            <a:avLst/>
          </a:prstGeom>
          <a:solidFill>
            <a:srgbClr val="E7FF83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6334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285292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visibility</a:t>
            </a:r>
            <a:pPr indent="0" marL="0">
              <a:buNone/>
            </a:pPr>
            <a:r>
              <a:rPr lang="en-US" sz="115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Cloud &amp; identity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77824" y="318211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AWS · Okta · Microsoft Entra ID · Azure · GCP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36024" y="2761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MANDATORY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36024" y="29992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 when all connected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35478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  feeds risk context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3822192"/>
            <a:ext cx="11055096" cy="1024128"/>
          </a:xfrm>
          <a:prstGeom prst="roundRect">
            <a:avLst>
              <a:gd name="adj" fmla="val 8929"/>
            </a:avLst>
          </a:prstGeom>
          <a:solidFill>
            <a:srgbClr val="1F2230"/>
          </a:solidFill>
          <a:ln w="12700">
            <a:solidFill>
              <a:srgbClr val="2B31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3950208"/>
            <a:ext cx="82296" cy="768096"/>
          </a:xfrm>
          <a:prstGeom prst="rect">
            <a:avLst/>
          </a:prstGeom>
          <a:solidFill>
            <a:srgbClr val="54C7F5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39684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4C7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CONTEXT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77824" y="418795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 context</a:t>
            </a:r>
            <a:pPr indent="0" marL="0">
              <a:buNone/>
            </a:pPr>
            <a:r>
              <a:rPr lang="en-US" sz="115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SIEM &amp; evidence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77824" y="451713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Splunk · Microsoft Sentinel · QRadar · Elastic Security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36024" y="40965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ENRICHES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36024" y="433425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optional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" y="488289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  routes to action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5157216"/>
            <a:ext cx="11055096" cy="1024128"/>
          </a:xfrm>
          <a:prstGeom prst="roundRect">
            <a:avLst>
              <a:gd name="adj" fmla="val 8929"/>
            </a:avLst>
          </a:prstGeom>
          <a:solidFill>
            <a:srgbClr val="1F2230"/>
          </a:solidFill>
          <a:ln w="12700">
            <a:solidFill>
              <a:srgbClr val="2B31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5285232"/>
            <a:ext cx="82296" cy="768096"/>
          </a:xfrm>
          <a:prstGeom prst="rect">
            <a:avLst/>
          </a:prstGeom>
          <a:solidFill>
            <a:srgbClr val="F94351"/>
          </a:solidFill>
          <a:ln/>
        </p:spPr>
      </p:sp>
      <p:sp>
        <p:nvSpPr>
          <p:cNvPr id="23" name="Text 21"/>
          <p:cNvSpPr/>
          <p:nvPr/>
        </p:nvSpPr>
        <p:spPr>
          <a:xfrm>
            <a:off x="877824" y="53035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77824" y="552297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Response workflow</a:t>
            </a:r>
            <a:pPr indent="0" marL="0">
              <a:buNone/>
            </a:pPr>
            <a:r>
              <a:rPr lang="en-US" sz="115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Ticketing &amp; remediation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877824" y="58521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Jira · ServiceNow · Slack · Teams · XSOAR · Tines · GitHub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36024" y="54315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36024" y="5669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optional</a:t>
            </a:r>
            <a:endParaRPr lang="en-US" sz="1000" dirty="0"/>
          </a:p>
        </p:txBody>
      </p:sp>
      <p:pic>
        <p:nvPicPr>
          <p:cNvPr id="28" name="Image 0" descr="/Users/reutkabilo/Act Security/deliverables/build/ac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464808"/>
            <a:ext cx="396240" cy="18288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127760" y="643737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9793224" y="64373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PRINCIPLE 1 · PROGRESSIVE DISCLOSURE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clear next step, depth on demand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251960" y="1956816"/>
            <a:ext cx="7424928" cy="4693187"/>
          </a:xfrm>
          <a:prstGeom prst="roundRect">
            <a:avLst>
              <a:gd name="adj" fmla="val 1948"/>
            </a:avLst>
          </a:prstGeom>
          <a:solidFill>
            <a:srgbClr val="1F2230"/>
          </a:solidFill>
          <a:ln w="12700">
            <a:solidFill>
              <a:srgbClr val="3A425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4000"/>
              </a:srgbClr>
            </a:outerShdw>
          </a:effectLst>
        </p:spPr>
      </p:sp>
      <p:pic>
        <p:nvPicPr>
          <p:cNvPr id="5" name="Image 0" descr="/Users/reutkabilo/Act Security/prototype/public/shots/catalog-day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6824" y="2011680"/>
            <a:ext cx="7315200" cy="45834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214884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 with one move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6928" y="2459736"/>
            <a:ext cx="3236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new account shows a single recommended step - connect AWS - not everything at once.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324612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 the path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" y="3557016"/>
            <a:ext cx="3236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maps the route that step kicks off: Foundation, then Context, then Action.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6928" y="434340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Detail when needed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6928" y="4654296"/>
            <a:ext cx="3236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Scopes, audit and advanced options stay hidden until you open the flow.</a:t>
            </a:r>
            <a:endParaRPr lang="en-US" sz="1250" dirty="0"/>
          </a:p>
        </p:txBody>
      </p:sp>
      <p:pic>
        <p:nvPicPr>
          <p:cNvPr id="12" name="Image 1" descr="/Users/reutkabilo/Act Security/deliverables/build/ac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464808"/>
            <a:ext cx="39624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27760" y="643737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9793224" y="64373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DESIGNED FOR THE WHOLE TIMELINE, NOT A DEMO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entry states: Day 0 and Live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prototype toggle flips between the two stories the page must hold - the empty first-run account, and the populated, in-use account where things drift, fail and need updates.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7532" y="2487168"/>
            <a:ext cx="5093208" cy="3232209"/>
          </a:xfrm>
          <a:prstGeom prst="roundRect">
            <a:avLst>
              <a:gd name="adj" fmla="val 2829"/>
            </a:avLst>
          </a:prstGeom>
          <a:solidFill>
            <a:srgbClr val="1F2230"/>
          </a:solidFill>
          <a:ln w="12700">
            <a:solidFill>
              <a:srgbClr val="3A425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4000"/>
              </a:srgbClr>
            </a:outerShdw>
          </a:effectLst>
        </p:spPr>
      </p:sp>
      <p:pic>
        <p:nvPicPr>
          <p:cNvPr id="6" name="Image 0" descr="/Users/reutkabilo/Act Security/prototype/public/shots/catalog-day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2542032"/>
            <a:ext cx="4983480" cy="312248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8212" y="2487168"/>
            <a:ext cx="5093208" cy="3232209"/>
          </a:xfrm>
          <a:prstGeom prst="roundRect">
            <a:avLst>
              <a:gd name="adj" fmla="val 2829"/>
            </a:avLst>
          </a:prstGeom>
          <a:solidFill>
            <a:srgbClr val="1F2230"/>
          </a:solidFill>
          <a:ln w="12700">
            <a:solidFill>
              <a:srgbClr val="3A425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4000"/>
              </a:srgbClr>
            </a:outerShdw>
          </a:effectLst>
        </p:spPr>
      </p:sp>
      <p:pic>
        <p:nvPicPr>
          <p:cNvPr id="8" name="Image 1" descr="/Users/reutkabilo/Act Security/prototype/public/shots/catalog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542032"/>
            <a:ext cx="4983480" cy="312248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2396" y="5810817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DAY 0  ·  START MODE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82396" y="6066849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Nothing connected - a guided get-started hero solves the blank-slate problem.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323076" y="5810817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 ·  POPULATED MODE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323076" y="6066849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Connected, degraded, failed &amp; update-pending - solves day-to-day operations.</a:t>
            </a:r>
            <a:endParaRPr lang="en-US" sz="1100" dirty="0"/>
          </a:p>
        </p:txBody>
      </p:sp>
      <p:pic>
        <p:nvPicPr>
          <p:cNvPr id="13" name="Image 2" descr="/Users/reutkabilo/Act Security/deliverables/build/act-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64808"/>
            <a:ext cx="39624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27760" y="643737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9793224" y="64373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GUIDED CONNECT FLOW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 → Credentials → Consent → Integrate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right-hand panel keeps the catalog in context throughout. Step one is pure trust - what Act reads, what it never does, the required role - before any credential.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532120" y="2459736"/>
            <a:ext cx="6144768" cy="3891081"/>
          </a:xfrm>
          <a:prstGeom prst="roundRect">
            <a:avLst>
              <a:gd name="adj" fmla="val 2350"/>
            </a:avLst>
          </a:prstGeom>
          <a:solidFill>
            <a:srgbClr val="1F2230"/>
          </a:solidFill>
          <a:ln w="12700">
            <a:solidFill>
              <a:srgbClr val="3A425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4000"/>
              </a:srgbClr>
            </a:outerShdw>
          </a:effectLst>
        </p:spPr>
      </p:sp>
      <p:pic>
        <p:nvPicPr>
          <p:cNvPr id="6" name="Image 0" descr="/Users/reutkabilo/Act Security/prototype/public/shots/aws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6984" y="2514600"/>
            <a:ext cx="6035040" cy="37813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560320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 Select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66928" y="2834640"/>
            <a:ext cx="4562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plain-English Copilot line, then the trust-first overview: data accessed, “Act will never…”, read-only recommended, required role.</a:t>
            </a:r>
            <a:endParaRPr lang="en-US" sz="1130" dirty="0"/>
          </a:p>
        </p:txBody>
      </p:sp>
      <p:sp>
        <p:nvSpPr>
          <p:cNvPr id="9" name="Text 6"/>
          <p:cNvSpPr/>
          <p:nvPr/>
        </p:nvSpPr>
        <p:spPr>
          <a:xfrm>
            <a:off x="566928" y="3474720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 Credentials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66928" y="3749040"/>
            <a:ext cx="4562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Branches by auth type - AWS IAM role, SaaS OAuth, SIEM API token - with “where do I find this?” help.</a:t>
            </a:r>
            <a:endParaRPr lang="en-US" sz="1130" dirty="0"/>
          </a:p>
        </p:txBody>
      </p:sp>
      <p:sp>
        <p:nvSpPr>
          <p:cNvPr id="11" name="Text 8"/>
          <p:cNvSpPr/>
          <p:nvPr/>
        </p:nvSpPr>
        <p:spPr>
          <a:xfrm>
            <a:off x="566928" y="4389120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 Consent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66928" y="4663440"/>
            <a:ext cx="4562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Scopes grouped read vs write, each with a reason. Test the connection before enabling.</a:t>
            </a:r>
            <a:endParaRPr lang="en-US" sz="1130" dirty="0"/>
          </a:p>
        </p:txBody>
      </p:sp>
      <p:sp>
        <p:nvSpPr>
          <p:cNvPr id="13" name="Text 10"/>
          <p:cNvSpPr/>
          <p:nvPr/>
        </p:nvSpPr>
        <p:spPr>
          <a:xfrm>
            <a:off x="566928" y="5303520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 Integrate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66928" y="5577840"/>
            <a:ext cx="4562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Success, what happens next, plus owner, role and audit trail.</a:t>
            </a:r>
            <a:endParaRPr lang="en-US" sz="1130" dirty="0"/>
          </a:p>
        </p:txBody>
      </p:sp>
      <p:pic>
        <p:nvPicPr>
          <p:cNvPr id="15" name="Image 1" descr="/Users/reutkabilo/Act Security/deliverables/build/ac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464808"/>
            <a:ext cx="39624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27760" y="643737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9793224" y="64373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8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TRUST BEFORE CREDENTIALS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Least privilege by default - write is opt-in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Granting cloud access can feel risky and hard to reverse, so consent is the most carefully designed step. Read scopes are required and explained; write scopes are off by default; no write action is enabled without explicit consent and validation.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532120" y="2459736"/>
            <a:ext cx="6144768" cy="3891081"/>
          </a:xfrm>
          <a:prstGeom prst="roundRect">
            <a:avLst>
              <a:gd name="adj" fmla="val 2350"/>
            </a:avLst>
          </a:prstGeom>
          <a:solidFill>
            <a:srgbClr val="1F2230"/>
          </a:solidFill>
          <a:ln w="12700">
            <a:solidFill>
              <a:srgbClr val="3A425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4000"/>
              </a:srgbClr>
            </a:outerShdw>
          </a:effectLst>
        </p:spPr>
      </p:sp>
      <p:pic>
        <p:nvPicPr>
          <p:cNvPr id="6" name="Image 0" descr="/Users/reutkabilo/Act Security/prototype/public/shots/aws-cons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6984" y="2514600"/>
            <a:ext cx="6035040" cy="378135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2642616"/>
            <a:ext cx="128016" cy="128016"/>
          </a:xfrm>
          <a:prstGeom prst="ellipse">
            <a:avLst/>
          </a:prstGeom>
          <a:solidFill>
            <a:srgbClr val="E7FF83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2532888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 vs write, grouped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41248" y="2807208"/>
            <a:ext cx="4288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scope states what it unlocks - not just an API name.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3483864"/>
            <a:ext cx="128016" cy="128016"/>
          </a:xfrm>
          <a:prstGeom prst="ellipse">
            <a:avLst/>
          </a:prstGeom>
          <a:solidFill>
            <a:srgbClr val="E7FF83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374136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Write is off by default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41248" y="3648456"/>
            <a:ext cx="4288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Hardening writes are optional and clearly recommended-off.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" y="4325112"/>
            <a:ext cx="128016" cy="128016"/>
          </a:xfrm>
          <a:prstGeom prst="ellipse">
            <a:avLst/>
          </a:prstGeom>
          <a:solidFill>
            <a:srgbClr val="E7FF83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" y="4215384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before enabling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41248" y="4489704"/>
            <a:ext cx="4288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Nothing is written until the connection test passes.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5166360"/>
            <a:ext cx="128016" cy="128016"/>
          </a:xfrm>
          <a:prstGeom prst="ellipse">
            <a:avLst/>
          </a:prstGeom>
          <a:solidFill>
            <a:srgbClr val="E7FF83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5056632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Revoke anytime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41248" y="5330952"/>
            <a:ext cx="4288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reversible decision, stated as reversible.</a:t>
            </a:r>
            <a:endParaRPr lang="en-US" sz="1100" dirty="0"/>
          </a:p>
        </p:txBody>
      </p:sp>
      <p:pic>
        <p:nvPicPr>
          <p:cNvPr id="19" name="Image 1" descr="/Users/reutkabilo/Act Security/deliverables/build/ac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464808"/>
            <a:ext cx="396240" cy="1828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27760" y="643737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9793224" y="64373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8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 &amp; ERROR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“Connected” must mean data is flowing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expected data stops arriving, the status degrades automatically. Eight honest states, color-coded - so health reads at a glance and a silent “saved” never passes for “working.”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532120" y="2414016"/>
            <a:ext cx="6144768" cy="3891081"/>
          </a:xfrm>
          <a:prstGeom prst="roundRect">
            <a:avLst>
              <a:gd name="adj" fmla="val 2350"/>
            </a:avLst>
          </a:prstGeom>
          <a:solidFill>
            <a:srgbClr val="1F2230"/>
          </a:solidFill>
          <a:ln w="12700">
            <a:solidFill>
              <a:srgbClr val="3A425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4000"/>
              </a:srgbClr>
            </a:outerShdw>
          </a:effectLst>
        </p:spPr>
      </p:sp>
      <p:pic>
        <p:nvPicPr>
          <p:cNvPr id="6" name="Image 0" descr="/Users/reutkabilo/Act Security/prototype/public/shots/catalo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6984" y="2468880"/>
            <a:ext cx="6035040" cy="378135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2587752"/>
            <a:ext cx="146304" cy="146304"/>
          </a:xfrm>
          <a:prstGeom prst="ellipse">
            <a:avLst/>
          </a:prstGeom>
          <a:solidFill>
            <a:srgbClr val="7FE08A"/>
          </a:solidFill>
          <a:ln/>
        </p:spPr>
      </p:sp>
      <p:sp>
        <p:nvSpPr>
          <p:cNvPr id="8" name="Text 5"/>
          <p:cNvSpPr/>
          <p:nvPr/>
        </p:nvSpPr>
        <p:spPr>
          <a:xfrm>
            <a:off x="859536" y="2496312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Connected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flowing - “last synced 4m ago.”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3191256"/>
            <a:ext cx="146304" cy="146304"/>
          </a:xfrm>
          <a:prstGeom prst="ellipse">
            <a:avLst/>
          </a:prstGeom>
          <a:solidFill>
            <a:srgbClr val="54C7F5"/>
          </a:solidFill>
          <a:ln/>
        </p:spPr>
      </p:sp>
      <p:sp>
        <p:nvSpPr>
          <p:cNvPr id="10" name="Text 7"/>
          <p:cNvSpPr/>
          <p:nvPr/>
        </p:nvSpPr>
        <p:spPr>
          <a:xfrm>
            <a:off x="859536" y="3099816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Syncing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First data pull in progress.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3794760"/>
            <a:ext cx="146304" cy="146304"/>
          </a:xfrm>
          <a:prstGeom prst="ellipse">
            <a:avLst/>
          </a:prstGeom>
          <a:solidFill>
            <a:srgbClr val="F59E5B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" y="3703320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Degraded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Partial - some scopes stopped.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4398264"/>
            <a:ext cx="146304" cy="146304"/>
          </a:xfrm>
          <a:prstGeom prst="ellipse">
            <a:avLst/>
          </a:prstGeom>
          <a:solidFill>
            <a:srgbClr val="F5B945"/>
          </a:solidFill>
          <a:ln/>
        </p:spPr>
      </p:sp>
      <p:sp>
        <p:nvSpPr>
          <p:cNvPr id="14" name="Text 11"/>
          <p:cNvSpPr/>
          <p:nvPr/>
        </p:nvSpPr>
        <p:spPr>
          <a:xfrm>
            <a:off x="859536" y="4306824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Needs attention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Re-auth, missing scope or stale.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5001768"/>
            <a:ext cx="146304" cy="146304"/>
          </a:xfrm>
          <a:prstGeom prst="ellipse">
            <a:avLst/>
          </a:prstGeom>
          <a:solidFill>
            <a:srgbClr val="FF5C68"/>
          </a:solidFill>
          <a:ln/>
        </p:spPr>
      </p:sp>
      <p:sp>
        <p:nvSpPr>
          <p:cNvPr id="16" name="Text 13"/>
          <p:cNvSpPr/>
          <p:nvPr/>
        </p:nvSpPr>
        <p:spPr>
          <a:xfrm>
            <a:off x="859536" y="4910328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Error / Failed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Validation failed - cause + fix.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" y="5605272"/>
            <a:ext cx="146304" cy="146304"/>
          </a:xfrm>
          <a:prstGeom prst="ellipse">
            <a:avLst/>
          </a:prstGeom>
          <a:solidFill>
            <a:srgbClr val="6D7589"/>
          </a:solidFill>
          <a:ln/>
        </p:spPr>
      </p:sp>
      <p:sp>
        <p:nvSpPr>
          <p:cNvPr id="18" name="Text 15"/>
          <p:cNvSpPr/>
          <p:nvPr/>
        </p:nvSpPr>
        <p:spPr>
          <a:xfrm>
            <a:off x="859536" y="5513832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connected / Available / Disabled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Ready to set up, or paused by an admin.</a:t>
            </a:r>
            <a:endParaRPr lang="en-US" sz="1200" dirty="0"/>
          </a:p>
        </p:txBody>
      </p:sp>
      <p:pic>
        <p:nvPicPr>
          <p:cNvPr id="19" name="Image 1" descr="/Users/reutkabilo/Act Security/deliverables/build/ac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464808"/>
            <a:ext cx="396240" cy="1828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27760" y="643737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9793224" y="64373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8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5C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THE OPERATOR DOES WHEN IT FAILS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failure names the cause - and the fix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failed connection is the highest-anxiety moment. Instead of a red error, the panel pinpoints the missing permission, hands over a copyable policy, and offers one-click Retry - no reload, no guesswork.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532120" y="2459736"/>
            <a:ext cx="6144768" cy="3891081"/>
          </a:xfrm>
          <a:prstGeom prst="roundRect">
            <a:avLst>
              <a:gd name="adj" fmla="val 2350"/>
            </a:avLst>
          </a:prstGeom>
          <a:solidFill>
            <a:srgbClr val="1F2230"/>
          </a:solidFill>
          <a:ln w="12700">
            <a:solidFill>
              <a:srgbClr val="3A425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4000"/>
              </a:srgbClr>
            </a:outerShdw>
          </a:effectLst>
        </p:spPr>
      </p:sp>
      <p:pic>
        <p:nvPicPr>
          <p:cNvPr id="6" name="Image 0" descr="/Users/reutkabilo/Act Security/prototype/public/shots/aws-err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6984" y="2514600"/>
            <a:ext cx="6035040" cy="378135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2615184"/>
            <a:ext cx="128016" cy="128016"/>
          </a:xfrm>
          <a:prstGeom prst="ellipse">
            <a:avLst/>
          </a:prstGeom>
          <a:solidFill>
            <a:srgbClr val="FF5C68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2505456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Names the exact gap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41248" y="2779776"/>
            <a:ext cx="4288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e.g. the role is missing iam:ListRoles - stated, not implied.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3383280"/>
            <a:ext cx="128016" cy="128016"/>
          </a:xfrm>
          <a:prstGeom prst="ellipse">
            <a:avLst/>
          </a:prstGeom>
          <a:solidFill>
            <a:srgbClr val="FF5C68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273552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Hands over the fix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41248" y="3547872"/>
            <a:ext cx="4288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copyable IAM policy statement to paste and apply.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" y="4151376"/>
            <a:ext cx="128016" cy="128016"/>
          </a:xfrm>
          <a:prstGeom prst="ellipse">
            <a:avLst/>
          </a:prstGeom>
          <a:solidFill>
            <a:srgbClr val="FF5C68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" y="4041648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One-click Retry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41248" y="4315968"/>
            <a:ext cx="4288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Re-validates inline - no page reload, no lost context.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4919472"/>
            <a:ext cx="128016" cy="128016"/>
          </a:xfrm>
          <a:prstGeom prst="ellipse">
            <a:avLst/>
          </a:prstGeom>
          <a:solidFill>
            <a:srgbClr val="FF5C68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4809744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Copilot explains why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41248" y="5084064"/>
            <a:ext cx="4288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Plain-language reason sits beside the technical detail.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6928" y="5687568"/>
            <a:ext cx="4562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IN-PANEL ACTIONS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6928" y="5961888"/>
            <a:ext cx="1316736" cy="274320"/>
          </a:xfrm>
          <a:prstGeom prst="roundRect">
            <a:avLst>
              <a:gd name="adj" fmla="val 50000"/>
            </a:avLst>
          </a:prstGeom>
          <a:solidFill>
            <a:srgbClr val="2F3447"/>
          </a:solidFill>
          <a:ln w="9525">
            <a:solidFill>
              <a:srgbClr val="FF5C6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6928" y="596188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5C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Copy policy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048256" y="5961888"/>
            <a:ext cx="1225296" cy="274320"/>
          </a:xfrm>
          <a:prstGeom prst="roundRect">
            <a:avLst>
              <a:gd name="adj" fmla="val 50000"/>
            </a:avLst>
          </a:prstGeom>
          <a:solidFill>
            <a:srgbClr val="2F3447"/>
          </a:solidFill>
          <a:ln w="9525">
            <a:solidFill>
              <a:srgbClr val="FF5C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048256" y="5961888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5C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 guide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438144" y="5961888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2F3447"/>
          </a:solidFill>
          <a:ln w="9525">
            <a:solidFill>
              <a:srgbClr val="FF5C6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38144" y="5961888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5C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Retry</a:t>
            </a:r>
            <a:endParaRPr lang="en-US" sz="950" dirty="0"/>
          </a:p>
        </p:txBody>
      </p:sp>
      <p:pic>
        <p:nvPicPr>
          <p:cNvPr id="26" name="Image 1" descr="/Users/reutkabilo/Act Security/deliverables/build/ac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464808"/>
            <a:ext cx="396240" cy="18288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27760" y="643737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9793224" y="64373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8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AFTER CONNECT - LIFECYCLE &amp; UPDATES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Connected is the start of a relationship, not the end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Success states show what happens next, the owner, and a full audit trail. When a connector ships new scopes, an Update surfaces on the card - reconnecting keeps existing config so a live feed never breaks.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7532" y="2487168"/>
            <a:ext cx="5093208" cy="3232209"/>
          </a:xfrm>
          <a:prstGeom prst="roundRect">
            <a:avLst>
              <a:gd name="adj" fmla="val 2829"/>
            </a:avLst>
          </a:prstGeom>
          <a:solidFill>
            <a:srgbClr val="1F2230"/>
          </a:solidFill>
          <a:ln w="12700">
            <a:solidFill>
              <a:srgbClr val="3A425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4000"/>
              </a:srgbClr>
            </a:outerShdw>
          </a:effectLst>
        </p:spPr>
      </p:sp>
      <p:pic>
        <p:nvPicPr>
          <p:cNvPr id="6" name="Image 0" descr="/Users/reutkabilo/Act Security/prototype/public/shots/aws-su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2542032"/>
            <a:ext cx="4983480" cy="312248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8212" y="2487168"/>
            <a:ext cx="5093208" cy="3232209"/>
          </a:xfrm>
          <a:prstGeom prst="roundRect">
            <a:avLst>
              <a:gd name="adj" fmla="val 2829"/>
            </a:avLst>
          </a:prstGeom>
          <a:solidFill>
            <a:srgbClr val="1F2230"/>
          </a:solidFill>
          <a:ln w="12700">
            <a:solidFill>
              <a:srgbClr val="3A425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4000"/>
              </a:srgbClr>
            </a:outerShdw>
          </a:effectLst>
        </p:spPr>
      </p:sp>
      <p:pic>
        <p:nvPicPr>
          <p:cNvPr id="8" name="Image 1" descr="/Users/reutkabilo/Act Security/prototype/public/shots/okta-upd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542032"/>
            <a:ext cx="4983480" cy="312248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2396" y="5810817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FE0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CONNECTED  ·  CAPABILITIES &amp; BRIEF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882396" y="6066849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capability’s permissions &amp; status, plus a plain-English health brief.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323076" y="5810817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B94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UPDATE AVAILABLE  ·  SAFE UPGRADE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323076" y="6066849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Copilot brief explains the pending update; reconnect keeps config.</a:t>
            </a:r>
            <a:endParaRPr lang="en-US" sz="1100" dirty="0"/>
          </a:p>
        </p:txBody>
      </p:sp>
      <p:pic>
        <p:nvPicPr>
          <p:cNvPr id="13" name="Image 2" descr="/Users/reutkabilo/Act Security/deliverables/build/act-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64808"/>
            <a:ext cx="39624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27760" y="643737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9793224" y="64373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8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AI HELPS - INSIDE THE PRODUCT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Setup Copilot: guided setup, not autonomous control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contextual assistant woven into the page - not a floating chatbot. It recommends, explains and unblocks; the operator approves every access decision.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788920"/>
            <a:ext cx="5298948" cy="2834640"/>
          </a:xfrm>
          <a:prstGeom prst="roundRect">
            <a:avLst>
              <a:gd name="adj" fmla="val 3871"/>
            </a:avLst>
          </a:prstGeom>
          <a:solidFill>
            <a:srgbClr val="212B22"/>
          </a:solidFill>
          <a:ln w="15875">
            <a:solidFill>
              <a:srgbClr val="E7FF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3044952"/>
            <a:ext cx="46588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COPILOT DOES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6968" y="3502152"/>
            <a:ext cx="46588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Recommend what to connect first, from real coverage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Explain what each permission unlocks, in plain terms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Surface the exact missing scope + a copyable fix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Suggest the next best step - the user clicks to proceed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23076" y="2788920"/>
            <a:ext cx="5298948" cy="2834640"/>
          </a:xfrm>
          <a:prstGeom prst="roundRect">
            <a:avLst>
              <a:gd name="adj" fmla="val 3871"/>
            </a:avLst>
          </a:prstGeom>
          <a:solidFill>
            <a:srgbClr val="2A2230"/>
          </a:solidFill>
          <a:ln w="15875">
            <a:solidFill>
              <a:srgbClr val="FF5C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43116" y="3044952"/>
            <a:ext cx="46588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5C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COPILOT NEVER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43116" y="3502152"/>
            <a:ext cx="46588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Auto-connect or grant scopes on its own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Hide what it’s doing behind a chat bubble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Push writes or remediation without explicit consent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Replace the operator’s judgment on access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585216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can guide and explain - but the user stays in control.</a:t>
            </a:r>
            <a:endParaRPr lang="en-US" sz="1400" dirty="0"/>
          </a:p>
        </p:txBody>
      </p:sp>
      <p:pic>
        <p:nvPicPr>
          <p:cNvPr id="12" name="Image 0" descr="/Users/reutkabilo/Act Security/deliverables/build/ac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464808"/>
            <a:ext cx="396240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27760" y="643737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793224" y="64373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8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THE COPILOT SPEAKS - IN PLAIN ENGLISH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drawer, two modes - a Copilot brief in each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same right-hand drawer adapts to where you are. Not connected? A guided connect flow. Already connected? A manage view. In both, Setup Copilot writes a plain-English brief - what connecting will do, or what the live state means and exactly what to fix.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7532" y="2615184"/>
            <a:ext cx="5093208" cy="3232209"/>
          </a:xfrm>
          <a:prstGeom prst="roundRect">
            <a:avLst>
              <a:gd name="adj" fmla="val 2829"/>
            </a:avLst>
          </a:prstGeom>
          <a:solidFill>
            <a:srgbClr val="1F2230"/>
          </a:solidFill>
          <a:ln w="12700">
            <a:solidFill>
              <a:srgbClr val="3A425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4000"/>
              </a:srgbClr>
            </a:outerShdw>
          </a:effectLst>
        </p:spPr>
      </p:sp>
      <p:pic>
        <p:nvPicPr>
          <p:cNvPr id="6" name="Image 0" descr="/Users/reutkabilo/Act Security/prototype/public/shots/aws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2670048"/>
            <a:ext cx="4983480" cy="312248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8212" y="2615184"/>
            <a:ext cx="5093208" cy="3232209"/>
          </a:xfrm>
          <a:prstGeom prst="roundRect">
            <a:avLst>
              <a:gd name="adj" fmla="val 2829"/>
            </a:avLst>
          </a:prstGeom>
          <a:solidFill>
            <a:srgbClr val="1F2230"/>
          </a:solidFill>
          <a:ln w="12700">
            <a:solidFill>
              <a:srgbClr val="3A425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4000"/>
              </a:srgbClr>
            </a:outerShdw>
          </a:effectLst>
        </p:spPr>
      </p:sp>
      <p:pic>
        <p:nvPicPr>
          <p:cNvPr id="8" name="Image 1" descr="/Users/reutkabilo/Act Security/prototype/public/shots/aws-man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670048"/>
            <a:ext cx="4983480" cy="312248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2396" y="5938833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CONNECTED  ·  “WHAT THIS DOES”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882396" y="6194865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Before any credential, AI explains the integration’s value in one line.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323076" y="5938833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FE0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CONNECTED  ·  LIVE STATUS BRIEF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323076" y="6194865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read on the live state - what’s partial, why, and the one-click fix.</a:t>
            </a:r>
            <a:endParaRPr lang="en-US" sz="1100" dirty="0"/>
          </a:p>
        </p:txBody>
      </p:sp>
      <p:pic>
        <p:nvPicPr>
          <p:cNvPr id="13" name="Image 2" descr="/Users/reutkabilo/Act Security/deliverables/build/act-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64808"/>
            <a:ext cx="39624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27760" y="643737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9793224" y="64373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8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CLARITY &amp; ACCESSIBILITY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Explain in place - in light and dark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Progressive disclosure applies to meaning too: tooltips explain each status, the demo toggle and the recommendations on hover - so nothing relies on prior knowledge. Both themes meet contrast targets.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532120" y="2459736"/>
            <a:ext cx="6144768" cy="3891081"/>
          </a:xfrm>
          <a:prstGeom prst="roundRect">
            <a:avLst>
              <a:gd name="adj" fmla="val 2350"/>
            </a:avLst>
          </a:prstGeom>
          <a:solidFill>
            <a:srgbClr val="1F2230"/>
          </a:solidFill>
          <a:ln w="12700">
            <a:solidFill>
              <a:srgbClr val="3A425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4000"/>
              </a:srgbClr>
            </a:outerShdw>
          </a:effectLst>
        </p:spPr>
      </p:sp>
      <p:pic>
        <p:nvPicPr>
          <p:cNvPr id="6" name="Image 0" descr="/Users/reutkabilo/Act Security/prototype/public/shots/catalo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6984" y="2514600"/>
            <a:ext cx="6035040" cy="378135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2642616"/>
            <a:ext cx="128016" cy="128016"/>
          </a:xfrm>
          <a:prstGeom prst="ellipse">
            <a:avLst/>
          </a:prstGeom>
          <a:solidFill>
            <a:srgbClr val="E7FF83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2532888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Tooltips everywhere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41248" y="2825496"/>
            <a:ext cx="4288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Status, badges, the Day-0/Live toggle and recommendations explain themselves on hover/focus.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3557016"/>
            <a:ext cx="128016" cy="128016"/>
          </a:xfrm>
          <a:prstGeom prst="ellipse">
            <a:avLst/>
          </a:prstGeom>
          <a:solidFill>
            <a:srgbClr val="E7FF83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447288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Contrast-checked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41248" y="3739896"/>
            <a:ext cx="4288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Light theme reworked - darker text, visible borders, accessible status hues.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" y="4471416"/>
            <a:ext cx="128016" cy="128016"/>
          </a:xfrm>
          <a:prstGeom prst="ellipse">
            <a:avLst/>
          </a:prstGeom>
          <a:solidFill>
            <a:srgbClr val="E7FF83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" y="4361688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Dark + light parity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41248" y="4654296"/>
            <a:ext cx="4288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Both themes carry the full brand, not a dimmed afterthought.</a:t>
            </a:r>
            <a:endParaRPr lang="en-US" sz="1100" dirty="0"/>
          </a:p>
        </p:txBody>
      </p:sp>
      <p:pic>
        <p:nvPicPr>
          <p:cNvPr id="16" name="Image 1" descr="/Users/reutkabilo/Act Security/deliverables/build/ac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464808"/>
            <a:ext cx="396240" cy="1828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27760" y="643737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9793224" y="64373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8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ON ACT’S BRAND LANGUAGE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Brand-aligned system, not a one-off mockup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prototype runs on a token system derived from Act’s public website - coral, lime and navy - with the geometric brand type and a recurring “control-plane blueprint” motif drawn from Act’s construction-line illustration style.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69748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F9435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420624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44805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CTA · logo · alerts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10712" y="269748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7FF83"/>
          </a:solidFill>
          <a:ln/>
        </p:spPr>
      </p:sp>
      <p:sp>
        <p:nvSpPr>
          <p:cNvPr id="9" name="Text 7"/>
          <p:cNvSpPr/>
          <p:nvPr/>
        </p:nvSpPr>
        <p:spPr>
          <a:xfrm>
            <a:off x="3410712" y="420624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10712" y="44805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secured · highlight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54496" y="269748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181B27"/>
          </a:solidFill>
          <a:ln w="12700">
            <a:solidFill>
              <a:srgbClr val="3A42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420624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Navy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54496" y="44805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operator surface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98280" y="269748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FBFBE9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420624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98280" y="44805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light canvas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5074920"/>
            <a:ext cx="11055096" cy="1005840"/>
          </a:xfrm>
          <a:prstGeom prst="roundRect">
            <a:avLst>
              <a:gd name="adj" fmla="val 10909"/>
            </a:avLst>
          </a:prstGeom>
          <a:solidFill>
            <a:srgbClr val="1F2230"/>
          </a:solidFill>
          <a:ln w="12700">
            <a:solidFill>
              <a:srgbClr val="2B31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5074920"/>
            <a:ext cx="10415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Type 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Geometric rounded sans for display + UI.     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Motif 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Coral construction-line “control-plane blueprint” recurs in the empty + setup banners.</a:t>
            </a:r>
            <a:endParaRPr lang="en-US" sz="1300" dirty="0"/>
          </a:p>
        </p:txBody>
      </p:sp>
      <p:pic>
        <p:nvPicPr>
          <p:cNvPr id="19" name="Image 0" descr="/Users/reutkabilo/Act Security/deliverables/build/ac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464808"/>
            <a:ext cx="396240" cy="1828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27760" y="643737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793224" y="64373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8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280160"/>
            <a:ext cx="11055096" cy="4297680"/>
          </a:xfrm>
          <a:prstGeom prst="roundRect">
            <a:avLst>
              <a:gd name="adj" fmla="val 3404"/>
            </a:avLst>
          </a:prstGeom>
          <a:solidFill>
            <a:srgbClr val="1F2230"/>
          </a:solidFill>
          <a:ln w="12700">
            <a:solidFill>
              <a:srgbClr val="2B31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169164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DESIGN  ·  LIVE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210312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Try the working prototype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029968" y="2834640"/>
            <a:ext cx="8129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Fully interactive. Open any integration, walk the connect flow, trigger the AWS permission error and recover, meet the Setup Copilot, and toggle Day 0 / Live and light / dark. Built in React on the same Act tokens used throughout this deck.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4972" y="4023360"/>
            <a:ext cx="1744675" cy="274320"/>
          </a:xfrm>
          <a:prstGeom prst="roundRect">
            <a:avLst>
              <a:gd name="adj" fmla="val 50000"/>
            </a:avLst>
          </a:prstGeom>
          <a:solidFill>
            <a:srgbClr val="2F3447"/>
          </a:solidFill>
          <a:ln w="9525">
            <a:solidFill>
              <a:srgbClr val="E7FF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4972" y="4023360"/>
            <a:ext cx="17446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Trust-first flow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132527" y="402336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2F3447"/>
          </a:solidFill>
          <a:ln w="9525">
            <a:solidFill>
              <a:srgbClr val="E7FF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32527" y="4023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Per-auth credentials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18527" y="4023360"/>
            <a:ext cx="1565453" cy="274320"/>
          </a:xfrm>
          <a:prstGeom prst="roundRect">
            <a:avLst>
              <a:gd name="adj" fmla="val 50000"/>
            </a:avLst>
          </a:prstGeom>
          <a:solidFill>
            <a:srgbClr val="2F3447"/>
          </a:solidFill>
          <a:ln w="9525">
            <a:solidFill>
              <a:srgbClr val="E7FF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18527" y="4023360"/>
            <a:ext cx="15654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8-state health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4972" y="4480560"/>
            <a:ext cx="2551176" cy="274320"/>
          </a:xfrm>
          <a:prstGeom prst="roundRect">
            <a:avLst>
              <a:gd name="adj" fmla="val 50000"/>
            </a:avLst>
          </a:prstGeom>
          <a:solidFill>
            <a:srgbClr val="2F3447"/>
          </a:solidFill>
          <a:ln w="9525">
            <a:solidFill>
              <a:srgbClr val="E7FF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4972" y="4480560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Error → Retry → Connected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39028" y="4480560"/>
            <a:ext cx="1475842" cy="274320"/>
          </a:xfrm>
          <a:prstGeom prst="roundRect">
            <a:avLst>
              <a:gd name="adj" fmla="val 50000"/>
            </a:avLst>
          </a:prstGeom>
          <a:solidFill>
            <a:srgbClr val="2F3447"/>
          </a:solidFill>
          <a:ln w="9525">
            <a:solidFill>
              <a:srgbClr val="E7FF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39028" y="4480560"/>
            <a:ext cx="14758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Setup Copilot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597750" y="4480560"/>
            <a:ext cx="1386230" cy="274320"/>
          </a:xfrm>
          <a:prstGeom prst="roundRect">
            <a:avLst>
              <a:gd name="adj" fmla="val 50000"/>
            </a:avLst>
          </a:prstGeom>
          <a:solidFill>
            <a:srgbClr val="2F3447"/>
          </a:solidFill>
          <a:ln w="9525">
            <a:solidFill>
              <a:srgbClr val="E7FF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97750" y="4480560"/>
            <a:ext cx="13862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Light + dark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6928" y="502920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 the live prototype   </a:t>
            </a:r>
            <a:pPr algn="ctr" indent="0" marL="0">
              <a:buNone/>
            </a:pPr>
            <a:r>
              <a:rPr lang="en-US" sz="1200" b="1" u="sng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act-senior-prototype.lovable.app</a:t>
            </a:r>
            <a:endParaRPr lang="en-US" sz="1200" dirty="0"/>
          </a:p>
        </p:txBody>
      </p:sp>
      <p:pic>
        <p:nvPicPr>
          <p:cNvPr id="19" name="Image 0" descr="/Users/reutkabilo/Act Security/deliverables/build/ac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464808"/>
            <a:ext cx="396240" cy="1828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27760" y="643737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793224" y="64373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8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I ACTUALLY BUILT THIS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 AI build pipeline - the right tool at each stage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did real heavy lifting, but each tool had a distinct job - research, build, design system, handover. I stayed the decision-maker across all four.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743200"/>
            <a:ext cx="2462022" cy="2697480"/>
          </a:xfrm>
          <a:prstGeom prst="roundRect">
            <a:avLst>
              <a:gd name="adj" fmla="val 4457"/>
            </a:avLst>
          </a:prstGeom>
          <a:solidFill>
            <a:srgbClr val="1F2230"/>
          </a:solidFill>
          <a:ln w="12700">
            <a:solidFill>
              <a:srgbClr val="2B31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743200"/>
            <a:ext cx="2462022" cy="64008"/>
          </a:xfrm>
          <a:prstGeom prst="rect">
            <a:avLst/>
          </a:prstGeom>
          <a:solidFill>
            <a:srgbClr val="54C7F5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962656"/>
            <a:ext cx="20048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4C7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04672" y="3401568"/>
            <a:ext cx="2004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3767328"/>
            <a:ext cx="20048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4C7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Perplexity · Claude · ChatGPT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4261104"/>
            <a:ext cx="20048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scan, competitive teardown and pattern research - to form the product hypothesis.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10662" y="390906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31286" y="2743200"/>
            <a:ext cx="2462022" cy="2697480"/>
          </a:xfrm>
          <a:prstGeom prst="roundRect">
            <a:avLst>
              <a:gd name="adj" fmla="val 4457"/>
            </a:avLst>
          </a:prstGeom>
          <a:solidFill>
            <a:srgbClr val="1F2230"/>
          </a:solidFill>
          <a:ln w="12700">
            <a:solidFill>
              <a:srgbClr val="2B31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31286" y="2743200"/>
            <a:ext cx="2462022" cy="64008"/>
          </a:xfrm>
          <a:prstGeom prst="rect">
            <a:avLst/>
          </a:prstGeom>
          <a:solidFill>
            <a:srgbClr val="E7FF83"/>
          </a:solidFill>
          <a:ln/>
        </p:spPr>
      </p:sp>
      <p:sp>
        <p:nvSpPr>
          <p:cNvPr id="14" name="Text 12"/>
          <p:cNvSpPr/>
          <p:nvPr/>
        </p:nvSpPr>
        <p:spPr>
          <a:xfrm>
            <a:off x="3669030" y="2962656"/>
            <a:ext cx="20048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669030" y="3401568"/>
            <a:ext cx="2004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69030" y="3767328"/>
            <a:ext cx="20048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69030" y="4261104"/>
            <a:ext cx="20048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the foundations and the live React prototype - and iterated every adjustment in code.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75020" y="390906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95644" y="2743200"/>
            <a:ext cx="2462022" cy="2697480"/>
          </a:xfrm>
          <a:prstGeom prst="roundRect">
            <a:avLst>
              <a:gd name="adj" fmla="val 4457"/>
            </a:avLst>
          </a:prstGeom>
          <a:solidFill>
            <a:srgbClr val="1F2230"/>
          </a:solidFill>
          <a:ln w="12700">
            <a:solidFill>
              <a:srgbClr val="2B31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95644" y="2743200"/>
            <a:ext cx="2462022" cy="64008"/>
          </a:xfrm>
          <a:prstGeom prst="rect">
            <a:avLst/>
          </a:prstGeom>
          <a:solidFill>
            <a:srgbClr val="F94351"/>
          </a:solidFill>
          <a:ln/>
        </p:spPr>
      </p:sp>
      <p:sp>
        <p:nvSpPr>
          <p:cNvPr id="21" name="Text 19"/>
          <p:cNvSpPr/>
          <p:nvPr/>
        </p:nvSpPr>
        <p:spPr>
          <a:xfrm>
            <a:off x="6533388" y="2962656"/>
            <a:ext cx="20048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533388" y="3401568"/>
            <a:ext cx="2004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Design system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33388" y="3767328"/>
            <a:ext cx="20048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 · design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33388" y="4261104"/>
            <a:ext cx="20048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Shaped the design system and refined the prototype - tokens, components, visual polish.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739378" y="390906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160002" y="2743200"/>
            <a:ext cx="2462022" cy="2697480"/>
          </a:xfrm>
          <a:prstGeom prst="roundRect">
            <a:avLst>
              <a:gd name="adj" fmla="val 4457"/>
            </a:avLst>
          </a:prstGeom>
          <a:solidFill>
            <a:srgbClr val="1F2230"/>
          </a:solidFill>
          <a:ln w="12700">
            <a:solidFill>
              <a:srgbClr val="2B31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60002" y="2743200"/>
            <a:ext cx="2462022" cy="64008"/>
          </a:xfrm>
          <a:prstGeom prst="rect">
            <a:avLst/>
          </a:prstGeom>
          <a:solidFill>
            <a:srgbClr val="E7FF83"/>
          </a:solidFill>
          <a:ln/>
        </p:spPr>
      </p:sp>
      <p:sp>
        <p:nvSpPr>
          <p:cNvPr id="28" name="Text 26"/>
          <p:cNvSpPr/>
          <p:nvPr/>
        </p:nvSpPr>
        <p:spPr>
          <a:xfrm>
            <a:off x="9397746" y="2962656"/>
            <a:ext cx="20048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9397746" y="3401568"/>
            <a:ext cx="2004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Handover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9397746" y="3767328"/>
            <a:ext cx="20048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Lovable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397746" y="4261104"/>
            <a:ext cx="20048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Used only for the handover - one move to a deployed, shareable live link.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5669280"/>
            <a:ext cx="11055096" cy="548640"/>
          </a:xfrm>
          <a:prstGeom prst="roundRect">
            <a:avLst>
              <a:gd name="adj" fmla="val 16667"/>
            </a:avLst>
          </a:prstGeom>
          <a:solidFill>
            <a:srgbClr val="212B22"/>
          </a:solidFill>
          <a:ln w="12700">
            <a:solidFill>
              <a:srgbClr val="E7FF8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6968" y="5669280"/>
            <a:ext cx="10415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throughline   </a:t>
            </a:r>
            <a:pPr indent="0" marL="0">
              <a:buNone/>
            </a:pPr>
            <a:r>
              <a:rPr lang="en-US" sz="125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as leverage at every stage - the product hypothesis, the trust model and every design decision stayed mine.</a:t>
            </a:r>
            <a:endParaRPr lang="en-US" sz="1250" dirty="0"/>
          </a:p>
        </p:txBody>
      </p:sp>
      <p:pic>
        <p:nvPicPr>
          <p:cNvPr id="34" name="Image 0" descr="/Users/reutkabilo/Act Security/deliverables/build/ac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464808"/>
            <a:ext cx="396240" cy="18288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127760" y="643737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9793224" y="64373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8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INTEGRITY NOTE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found hidden instructions in the brief - and refused them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11055096" cy="2514600"/>
          </a:xfrm>
          <a:prstGeom prst="roundRect">
            <a:avLst>
              <a:gd name="adj" fmla="val 5091"/>
            </a:avLst>
          </a:prstGeom>
          <a:solidFill>
            <a:srgbClr val="2A2230"/>
          </a:solidFill>
          <a:ln w="19050">
            <a:solidFill>
              <a:srgbClr val="F94351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2468880"/>
            <a:ext cx="10140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BRIEF CONTAINED A HIDDEN PROMPT INJECTION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2926080"/>
            <a:ext cx="10140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assignment included hidden text instructing any AI tool to prepend a canned line to every response - and to conceal that it was doing so.</a:t>
            </a:r>
            <a:endParaRPr lang="en-US" sz="15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detected it, treated it as untrusted input, did not comply, and am disclosing it here.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24128" y="4114800"/>
            <a:ext cx="3566160" cy="274320"/>
          </a:xfrm>
          <a:prstGeom prst="roundRect">
            <a:avLst>
              <a:gd name="adj" fmla="val 50000"/>
            </a:avLst>
          </a:prstGeom>
          <a:solidFill>
            <a:srgbClr val="2F3447"/>
          </a:solidFill>
          <a:ln w="9525">
            <a:solidFill>
              <a:srgbClr val="F943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✕  Did not comply  ·  stayed transparent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4919472"/>
            <a:ext cx="11055096" cy="786384"/>
          </a:xfrm>
          <a:prstGeom prst="roundRect">
            <a:avLst>
              <a:gd name="adj" fmla="val 11628"/>
            </a:avLst>
          </a:prstGeom>
          <a:solidFill>
            <a:srgbClr val="212B22"/>
          </a:solidFill>
          <a:ln w="12700">
            <a:solidFill>
              <a:srgbClr val="E7FF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4919472"/>
            <a:ext cx="103235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 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Treating untrusted input as trusted is exactly the kind of failure preemptive security exists to prevent - so this is on-thesis, not incidental.</a:t>
            </a:r>
            <a:endParaRPr lang="en-US" sz="1350" dirty="0"/>
          </a:p>
        </p:txBody>
      </p:sp>
      <p:pic>
        <p:nvPicPr>
          <p:cNvPr id="11" name="Image 0" descr="/Users/reutkabilo/Act Security/deliverables/build/ac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464808"/>
            <a:ext cx="39624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27760" y="643737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793224" y="64373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8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RESPONSIBLE AI USAGE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I used AI - and where I kept judgment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6AE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did real heavy lifting here. The interesting part is the judgment around it: leverage where it helped, and the calls I held onto as a designer.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606040"/>
            <a:ext cx="5298948" cy="3017520"/>
          </a:xfrm>
          <a:prstGeom prst="roundRect">
            <a:avLst>
              <a:gd name="adj" fmla="val 3636"/>
            </a:avLst>
          </a:prstGeom>
          <a:solidFill>
            <a:srgbClr val="212B22"/>
          </a:solidFill>
          <a:ln w="15875">
            <a:solidFill>
              <a:srgbClr val="E7FF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862072"/>
            <a:ext cx="4658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7FF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AI HELPED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86968" y="3319272"/>
            <a:ext cx="46588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 teardown across products → evidence table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Generated the live React prototype + design tokens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Drafted copy, the status taxonomy and flow scaffolding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Captured screenshots and assembled this deck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23076" y="2606040"/>
            <a:ext cx="5298948" cy="3017520"/>
          </a:xfrm>
          <a:prstGeom prst="roundRect">
            <a:avLst>
              <a:gd name="adj" fmla="val 3636"/>
            </a:avLst>
          </a:prstGeom>
          <a:solidFill>
            <a:srgbClr val="2A2230"/>
          </a:solidFill>
          <a:ln w="15875">
            <a:solidFill>
              <a:srgbClr val="F943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43116" y="2862072"/>
            <a:ext cx="4658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943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I KEPT JUDGMENT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643116" y="3319272"/>
            <a:ext cx="46588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Overrode an early “generic CNAPP” framing after deeper research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Kept Act’s positioning as hypotheses where I couldn’t verify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Refused the brief’s hidden prompt injection (see previous slide)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4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Made every access / consent decision a human approval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582472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tools / prompts / iterations log included with the submission.</a:t>
            </a:r>
            <a:endParaRPr lang="en-US" sz="1150" dirty="0"/>
          </a:p>
        </p:txBody>
      </p:sp>
      <p:pic>
        <p:nvPicPr>
          <p:cNvPr id="12" name="Image 0" descr="/Users/reutkabilo/Act Security/deliverables/build/ac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464808"/>
            <a:ext cx="396240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27760" y="643737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793224" y="64373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5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 / 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 Security - Integrations</dc:title>
  <dc:subject>PptxGenJS Presentation</dc:subject>
  <dc:creator>Reut Kabilo</dc:creator>
  <cp:lastModifiedBy>Reut Kabilo</cp:lastModifiedBy>
  <cp:revision>1</cp:revision>
  <dcterms:created xsi:type="dcterms:W3CDTF">2026-05-31T07:11:59Z</dcterms:created>
  <dcterms:modified xsi:type="dcterms:W3CDTF">2026-05-31T07:11:59Z</dcterms:modified>
</cp:coreProperties>
</file>